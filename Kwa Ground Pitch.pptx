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Click to move the slide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91394B4-C314-490C-B3BE-87236E3740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6CAE00-CF94-4A4C-8507-008201DC1E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46C679-5A67-4BC5-9276-82DCDE6C05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0FF27C-78A8-4D61-B690-9CEBD654E9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343762-0773-4436-BD21-76A3BEA149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245137-6E3E-4CC9-AC23-7110498B38A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F84B890-4772-485B-850D-95A05DEE4F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25CF4E-5F6C-46D3-9D35-A390EFAB00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12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body">
    <p:bg>
      <p:bgPr>
        <a:solidFill>
          <a:srgbClr val="12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566000" cy="614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4400" b="0" u="none" strike="noStrike">
                <a:solidFill>
                  <a:schemeClr val="lt1"/>
                </a:solidFill>
                <a:effectLst/>
                <a:uFillTx/>
                <a:latin typeface="Inter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Click to edit the title text format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812880" y="1732320"/>
            <a:ext cx="10566000" cy="431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defRPr>
            </a:lvl7pPr>
          </a:lstStyle>
          <a:p>
            <a: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Click to edit the outline text format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  <a:p>
            <a:pPr marL="743040" lvl="1" indent="-28584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Second Outline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  <a:p>
            <a:pPr marL="1143000" lvl="2" indent="-2286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Third Outline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  <a:p>
            <a:pPr marL="1600200" lvl="3" indent="-2286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Fourth Outline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  <a:p>
            <a:pPr marL="2057400" lvl="4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Fifth Outline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  <a:p>
            <a:pPr marL="2514600" lvl="5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Sixth Outline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  <a:p>
            <a:pPr marL="2971800" lvl="6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Inter"/>
              </a:rPr>
              <a:t>Seventh Outline Level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85800" y="1371600"/>
            <a:ext cx="10883160" cy="1091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ts val="8399"/>
              </a:lnSpc>
              <a:buNone/>
              <a:tabLst>
                <a:tab pos="0" algn="l"/>
              </a:tabLst>
            </a:pPr>
            <a:r>
              <a:rPr lang="en-US" sz="8000" b="1" u="none" strike="noStrike">
                <a:solidFill>
                  <a:srgbClr val="F3EFE6"/>
                </a:solidFill>
                <a:effectLst/>
                <a:uFillTx/>
                <a:latin typeface="URW Gothic"/>
                <a:ea typeface="Space Grotesk"/>
              </a:rPr>
              <a:t>Kwa Ground</a:t>
            </a:r>
            <a:endParaRPr lang="en-US" sz="8000" b="0" u="none" strike="noStrike">
              <a:solidFill>
                <a:schemeClr val="lt1"/>
              </a:solidFill>
              <a:effectLst/>
              <a:uFillTx/>
              <a:latin typeface="URW Gothic"/>
            </a:endParaRPr>
          </a:p>
        </p:txBody>
      </p:sp>
      <p:sp>
        <p:nvSpPr>
          <p:cNvPr id="11" name="Text 2"/>
          <p:cNvSpPr/>
          <p:nvPr/>
        </p:nvSpPr>
        <p:spPr>
          <a:xfrm>
            <a:off x="812880" y="2743200"/>
            <a:ext cx="6273720" cy="42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121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C9D3D8"/>
                </a:solidFill>
                <a:effectLst/>
                <a:uFillTx/>
                <a:latin typeface="URW Gothic"/>
                <a:ea typeface="Inter"/>
              </a:rPr>
              <a:t>A spatial audit for facilities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URW Gothic"/>
            </a:endParaRPr>
          </a:p>
        </p:txBody>
      </p:sp>
      <p:sp>
        <p:nvSpPr>
          <p:cNvPr id="12" name="Text 18"/>
          <p:cNvSpPr/>
          <p:nvPr/>
        </p:nvSpPr>
        <p:spPr>
          <a:xfrm>
            <a:off x="876600" y="5702760"/>
            <a:ext cx="140940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8FA3AD"/>
                </a:solidFill>
                <a:effectLst/>
                <a:uFillTx/>
                <a:latin typeface="Inter"/>
                <a:ea typeface="Inter"/>
              </a:rPr>
              <a:t>Presented by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8FA3AD"/>
                </a:solidFill>
                <a:effectLst/>
                <a:uFillTx/>
                <a:latin typeface="Inter"/>
                <a:ea typeface="Inter"/>
              </a:rPr>
              <a:t>Andy  Aketch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"/>
          <p:cNvPicPr/>
          <p:nvPr/>
        </p:nvPicPr>
        <p:blipFill>
          <a:blip r:embed="rId1"/>
          <a:stretch/>
        </p:blipFill>
        <p:spPr>
          <a:xfrm>
            <a:off x="7086600" y="1371600"/>
            <a:ext cx="4800600" cy="454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ts val="4839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Space Grotesk"/>
              </a:rPr>
              <a:t>A map is only as true as its last check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URW Gothic"/>
            </a:endParaRPr>
          </a:p>
        </p:txBody>
      </p:sp>
      <p:sp>
        <p:nvSpPr>
          <p:cNvPr id="15" name="Text 3"/>
          <p:cNvSpPr/>
          <p:nvPr/>
        </p:nvSpPr>
        <p:spPr>
          <a:xfrm>
            <a:off x="1066680" y="2968200"/>
            <a:ext cx="2964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639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Moved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1066680" y="3379320"/>
            <a:ext cx="2964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4"/>
                </a:solidFill>
                <a:effectLst/>
                <a:uFillTx/>
                <a:latin typeface="URW Gothic"/>
                <a:ea typeface="Inter"/>
              </a:rPr>
              <a:t>The clinic relocated. The pin did not.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579200" y="2840040"/>
            <a:ext cx="2964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639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Closed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4656600" y="3379320"/>
            <a:ext cx="2964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4"/>
                </a:solidFill>
                <a:effectLst/>
                <a:uFillTx/>
                <a:latin typeface="URW Gothic"/>
                <a:ea typeface="Inter"/>
              </a:rPr>
              <a:t>The map says open. The shutters say otherwise.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8246520" y="2968200"/>
            <a:ext cx="296460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639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Renamed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8246520" y="3379320"/>
            <a:ext cx="296460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239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4A5A64"/>
                </a:solidFill>
                <a:effectLst/>
                <a:uFillTx/>
                <a:latin typeface="URW Gothic"/>
                <a:ea typeface="Inter"/>
              </a:rPr>
              <a:t>New owner, new sign, old name online.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812880" y="5450760"/>
            <a:ext cx="1088316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ts val="2341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Mappers verify features all the time, but usually in their heads or in offices without real ground proofing.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  <a:p>
            <a:pPr defTabSz="914400">
              <a:lnSpc>
                <a:spcPts val="2341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Kwa Ground gives that check a proper tool.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ts val="4839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F3EFE6"/>
                </a:solidFill>
                <a:effectLst/>
                <a:uFillTx/>
                <a:latin typeface="Space Grotesk"/>
                <a:ea typeface="Space Grotesk"/>
              </a:rPr>
              <a:t>How </a:t>
            </a:r>
            <a:r>
              <a:rPr lang="en-US" sz="4400" b="1" u="none" strike="noStrike">
                <a:solidFill>
                  <a:srgbClr val="F3EFE6"/>
                </a:solidFill>
                <a:effectLst/>
                <a:uFillTx/>
                <a:latin typeface="Space Grotesk"/>
                <a:ea typeface="Space Grotesk"/>
              </a:rPr>
              <a:t>it works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</p:txBody>
      </p:sp>
      <p:sp>
        <p:nvSpPr>
          <p:cNvPr id="23" name="Text 2"/>
          <p:cNvSpPr/>
          <p:nvPr/>
        </p:nvSpPr>
        <p:spPr>
          <a:xfrm>
            <a:off x="914400" y="1600200"/>
            <a:ext cx="214488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85000" lnSpcReduction="19999"/>
          </a:bodyPr>
          <a:p>
            <a:pPr defTabSz="914400">
              <a:lnSpc>
                <a:spcPts val="4479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4CC3B0"/>
                </a:solidFill>
                <a:effectLst/>
                <a:uFillTx/>
                <a:latin typeface="Inter"/>
                <a:ea typeface="Inter"/>
              </a:rPr>
              <a:t>1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3"/>
          <p:cNvSpPr/>
          <p:nvPr/>
        </p:nvSpPr>
        <p:spPr>
          <a:xfrm>
            <a:off x="914400" y="2286000"/>
            <a:ext cx="214488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6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3EFE6"/>
                </a:solidFill>
                <a:effectLst/>
                <a:uFillTx/>
                <a:latin typeface="URW Gothic"/>
                <a:ea typeface="Inter"/>
              </a:rPr>
              <a:t>Pick</a:t>
            </a:r>
            <a:r>
              <a:rPr lang="en-US" sz="1800" b="1" u="none" strike="noStrike">
                <a:solidFill>
                  <a:srgbClr val="F3EFE6"/>
                </a:solidFill>
                <a:effectLst/>
                <a:uFillTx/>
                <a:latin typeface="Inter"/>
                <a:ea typeface="Inter"/>
              </a:rPr>
              <a:t> an area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4"/>
          <p:cNvSpPr/>
          <p:nvPr/>
        </p:nvSpPr>
        <p:spPr>
          <a:xfrm>
            <a:off x="914400" y="2743200"/>
            <a:ext cx="2057400" cy="7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Click the </a:t>
            </a:r>
            <a:r>
              <a:rPr lang="en-US" sz="1400" b="0" u="none" strike="noStrike">
                <a:solidFill>
                  <a:srgbClr val="C9D3D8"/>
                </a:solidFill>
                <a:effectLst/>
                <a:uFillTx/>
                <a:latin typeface="URW Gothic"/>
                <a:ea typeface="Inter"/>
              </a:rPr>
              <a:t>map</a:t>
            </a:r>
            <a:r>
              <a:rPr lang="en-US" sz="14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. The view becomes a bounding box.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3708360" y="4049280"/>
            <a:ext cx="2144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4479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4CC3B0"/>
                </a:solidFill>
                <a:effectLst/>
                <a:uFillTx/>
                <a:latin typeface="Inter"/>
                <a:ea typeface="Inter"/>
              </a:rPr>
              <a:t>2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7"/>
          <p:cNvSpPr/>
          <p:nvPr/>
        </p:nvSpPr>
        <p:spPr>
          <a:xfrm>
            <a:off x="3708360" y="4719600"/>
            <a:ext cx="214488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6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3EFE6"/>
                </a:solidFill>
                <a:effectLst/>
                <a:uFillTx/>
                <a:latin typeface="Inter"/>
                <a:ea typeface="Inter"/>
              </a:rPr>
              <a:t>Load facilities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8"/>
          <p:cNvSpPr/>
          <p:nvPr/>
        </p:nvSpPr>
        <p:spPr>
          <a:xfrm>
            <a:off x="3708360" y="5095440"/>
            <a:ext cx="2144880" cy="7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D8"/>
                </a:solidFill>
                <a:effectLst/>
                <a:uFillTx/>
                <a:latin typeface="URW Gothic"/>
                <a:ea typeface="Inter"/>
              </a:rPr>
              <a:t>The Overpass API returns every registered facility.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URW Gothic"/>
            </a:endParaRPr>
          </a:p>
        </p:txBody>
      </p:sp>
      <p:sp>
        <p:nvSpPr>
          <p:cNvPr id="29" name="Text 10"/>
          <p:cNvSpPr/>
          <p:nvPr/>
        </p:nvSpPr>
        <p:spPr>
          <a:xfrm>
            <a:off x="6629400" y="1692000"/>
            <a:ext cx="2144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4479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4CC3B0"/>
                </a:solidFill>
                <a:effectLst/>
                <a:uFillTx/>
                <a:latin typeface="Inter"/>
                <a:ea typeface="Inter"/>
              </a:rPr>
              <a:t>3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1"/>
          <p:cNvSpPr/>
          <p:nvPr/>
        </p:nvSpPr>
        <p:spPr>
          <a:xfrm>
            <a:off x="6629400" y="2444040"/>
            <a:ext cx="214488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6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3EFE6"/>
                </a:solidFill>
                <a:effectLst/>
                <a:uFillTx/>
                <a:latin typeface="Inter"/>
                <a:ea typeface="Inter"/>
              </a:rPr>
              <a:t>Audit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29400" y="2906280"/>
            <a:ext cx="2144880" cy="5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D8"/>
                </a:solidFill>
                <a:effectLst/>
                <a:uFillTx/>
                <a:latin typeface="URW Gothic"/>
                <a:ea typeface="Inter"/>
              </a:rPr>
              <a:t>Validate</a:t>
            </a:r>
            <a:r>
              <a:rPr lang="en-US" sz="14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 the loaded data.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4"/>
          <p:cNvSpPr/>
          <p:nvPr/>
        </p:nvSpPr>
        <p:spPr>
          <a:xfrm>
            <a:off x="9093240" y="4049280"/>
            <a:ext cx="2144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4479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4CC3B0"/>
                </a:solidFill>
                <a:effectLst/>
                <a:uFillTx/>
                <a:latin typeface="Inter"/>
                <a:ea typeface="Inter"/>
              </a:rPr>
              <a:t>4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5"/>
          <p:cNvSpPr/>
          <p:nvPr/>
        </p:nvSpPr>
        <p:spPr>
          <a:xfrm>
            <a:off x="9093240" y="4719600"/>
            <a:ext cx="2144880" cy="2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6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3EFE6"/>
                </a:solidFill>
                <a:effectLst/>
                <a:uFillTx/>
                <a:latin typeface="Inter"/>
                <a:ea typeface="Inter"/>
              </a:rPr>
              <a:t>Save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6"/>
          <p:cNvSpPr/>
          <p:nvPr/>
        </p:nvSpPr>
        <p:spPr>
          <a:xfrm>
            <a:off x="9093240" y="5095440"/>
            <a:ext cx="2144880" cy="77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C9D3D8"/>
                </a:solidFill>
                <a:effectLst/>
                <a:uFillTx/>
                <a:latin typeface="URW Gothic"/>
                <a:ea typeface="Inter"/>
              </a:rPr>
              <a:t>Changes persist in JSON Server and survive a reload.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URW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A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695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ts val="5281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Space Grotesk"/>
              </a:rPr>
              <a:t>The demo</a:t>
            </a:r>
            <a:endParaRPr lang="en-US" sz="4800" b="0" u="none" strike="noStrike">
              <a:solidFill>
                <a:schemeClr val="lt1"/>
              </a:solidFill>
              <a:effectLst/>
              <a:uFillTx/>
              <a:latin typeface="URW Gothic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895320" y="1828800"/>
            <a:ext cx="8020080" cy="3003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pPr marL="216000" indent="-216000">
              <a:buClr>
                <a:srgbClr val="000000"/>
              </a:buClr>
              <a:buFont typeface="OpenSymbol"/>
              <a:buAutoNum type="arabicParenR"/>
            </a:pPr>
            <a:r>
              <a:rPr lang="en-US" sz="28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Open an Area of Interest on the map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  <a:p>
            <a:pPr marL="216000" indent="-216000">
              <a:buClr>
                <a:srgbClr val="000000"/>
              </a:buClr>
              <a:buFont typeface="OpenSymbol"/>
              <a:buAutoNum type="arabicParenR"/>
            </a:pPr>
            <a:r>
              <a:rPr lang="en-US" sz="28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Select an area and watch facilities (eg. clinics) load as pins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  <a:p>
            <a:pPr marL="216000" indent="-216000">
              <a:buClr>
                <a:srgbClr val="000000"/>
              </a:buClr>
              <a:buFont typeface="OpenSymbol"/>
              <a:buAutoNum type="arabicParenR"/>
            </a:pPr>
            <a:r>
              <a:rPr lang="en-US" sz="28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Click one, mark it “needs updating”, add a note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  <a:p>
            <a:pPr marL="216000" indent="-216000">
              <a:buClr>
                <a:srgbClr val="000000"/>
              </a:buClr>
              <a:buFont typeface="OpenSymbol"/>
              <a:buAutoNum type="arabicParenR"/>
            </a:pPr>
            <a:r>
              <a:rPr lang="en-US" sz="28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The pin changes colour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  <a:p>
            <a:pPr marL="216000" indent="-216000">
              <a:buClr>
                <a:srgbClr val="000000"/>
              </a:buClr>
              <a:buFont typeface="OpenSymbol"/>
              <a:buAutoNum type="arabicParenR"/>
            </a:pPr>
            <a:r>
              <a:rPr lang="en-US" sz="28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Reload. The changes have been updated there.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3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ts val="4839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Space Grotesk"/>
              </a:rPr>
              <a:t>In a nutshell...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URW Gothic"/>
            </a:endParaRPr>
          </a:p>
        </p:txBody>
      </p:sp>
      <p:sp>
        <p:nvSpPr>
          <p:cNvPr id="38" name="Shape 1"/>
          <p:cNvSpPr/>
          <p:nvPr/>
        </p:nvSpPr>
        <p:spPr>
          <a:xfrm>
            <a:off x="685800" y="1371600"/>
            <a:ext cx="5257800" cy="457200"/>
          </a:xfrm>
          <a:prstGeom prst="line">
            <a:avLst/>
          </a:prstGeom>
          <a:ln w="12700">
            <a:solidFill>
              <a:srgbClr val="1220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"/>
          <p:cNvSpPr/>
          <p:nvPr/>
        </p:nvSpPr>
        <p:spPr>
          <a:xfrm>
            <a:off x="812880" y="3517920"/>
            <a:ext cx="2354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API integration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3"/>
          <p:cNvSpPr/>
          <p:nvPr/>
        </p:nvSpPr>
        <p:spPr>
          <a:xfrm>
            <a:off x="3403440" y="3517920"/>
            <a:ext cx="82144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Overpass for facilities,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4"/>
          <p:cNvSpPr/>
          <p:nvPr/>
        </p:nvSpPr>
        <p:spPr>
          <a:xfrm>
            <a:off x="812520" y="3917880"/>
            <a:ext cx="10566360" cy="360"/>
          </a:xfrm>
          <a:prstGeom prst="line">
            <a:avLst/>
          </a:prstGeom>
          <a:ln w="12700">
            <a:solidFill>
              <a:srgbClr val="D9D3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5"/>
          <p:cNvSpPr/>
          <p:nvPr/>
        </p:nvSpPr>
        <p:spPr>
          <a:xfrm>
            <a:off x="812880" y="4051440"/>
            <a:ext cx="2354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CRUD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6"/>
          <p:cNvSpPr/>
          <p:nvPr/>
        </p:nvSpPr>
        <p:spPr>
          <a:xfrm>
            <a:off x="3403440" y="4051440"/>
            <a:ext cx="82144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GET, POST, PUT, PATCH and DELETE against JSON Server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7"/>
          <p:cNvSpPr/>
          <p:nvPr/>
        </p:nvSpPr>
        <p:spPr>
          <a:xfrm>
            <a:off x="812520" y="4451040"/>
            <a:ext cx="10566360" cy="360"/>
          </a:xfrm>
          <a:prstGeom prst="line">
            <a:avLst/>
          </a:prstGeom>
          <a:ln w="12700">
            <a:solidFill>
              <a:srgbClr val="D9D3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8"/>
          <p:cNvSpPr/>
          <p:nvPr/>
        </p:nvSpPr>
        <p:spPr>
          <a:xfrm>
            <a:off x="812880" y="4584600"/>
            <a:ext cx="2354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Modules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9"/>
          <p:cNvSpPr/>
          <p:nvPr/>
        </p:nvSpPr>
        <p:spPr>
          <a:xfrm>
            <a:off x="3403440" y="4584600"/>
            <a:ext cx="82144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api, geo, separate from the HTML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0"/>
          <p:cNvSpPr/>
          <p:nvPr/>
        </p:nvSpPr>
        <p:spPr>
          <a:xfrm>
            <a:off x="812520" y="4984560"/>
            <a:ext cx="10566360" cy="360"/>
          </a:xfrm>
          <a:prstGeom prst="line">
            <a:avLst/>
          </a:prstGeom>
          <a:ln w="12700">
            <a:solidFill>
              <a:srgbClr val="D9D3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1"/>
          <p:cNvSpPr/>
          <p:nvPr/>
        </p:nvSpPr>
        <p:spPr>
          <a:xfrm>
            <a:off x="812880" y="5118120"/>
            <a:ext cx="2354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Testing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2"/>
          <p:cNvSpPr/>
          <p:nvPr/>
        </p:nvSpPr>
        <p:spPr>
          <a:xfrm>
            <a:off x="3403440" y="5118120"/>
            <a:ext cx="82144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at least 50% coverage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3"/>
          <p:cNvSpPr/>
          <p:nvPr/>
        </p:nvSpPr>
        <p:spPr>
          <a:xfrm>
            <a:off x="812520" y="5518080"/>
            <a:ext cx="10566360" cy="360"/>
          </a:xfrm>
          <a:prstGeom prst="line">
            <a:avLst/>
          </a:prstGeom>
          <a:ln w="12700">
            <a:solidFill>
              <a:srgbClr val="D9D3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4"/>
          <p:cNvSpPr/>
          <p:nvPr/>
        </p:nvSpPr>
        <p:spPr>
          <a:xfrm>
            <a:off x="812880" y="5651640"/>
            <a:ext cx="2354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Design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5"/>
          <p:cNvSpPr/>
          <p:nvPr/>
        </p:nvSpPr>
        <p:spPr>
          <a:xfrm>
            <a:off x="3403440" y="5651640"/>
            <a:ext cx="82144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Figma wireframe, three-colour palette, responsive layout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2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12880" y="812880"/>
            <a:ext cx="10883160" cy="639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ts val="4839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rgbClr val="F3EFE6"/>
                </a:solidFill>
                <a:effectLst/>
                <a:uFillTx/>
                <a:latin typeface="Space Grotesk"/>
                <a:ea typeface="Space Grotesk"/>
              </a:rPr>
              <a:t>What it is not... yet</a:t>
            </a:r>
            <a:endParaRPr lang="en-US" sz="4400" b="0" u="none" strike="noStrike">
              <a:solidFill>
                <a:schemeClr val="lt1"/>
              </a:solidFill>
              <a:effectLst/>
              <a:uFillTx/>
              <a:latin typeface="Inter"/>
            </a:endParaRPr>
          </a:p>
        </p:txBody>
      </p:sp>
      <p:sp>
        <p:nvSpPr>
          <p:cNvPr id="54" name="Shape 1"/>
          <p:cNvSpPr/>
          <p:nvPr/>
        </p:nvSpPr>
        <p:spPr>
          <a:xfrm>
            <a:off x="7459560" y="1828800"/>
            <a:ext cx="3284640" cy="3429000"/>
          </a:xfrm>
          <a:prstGeom prst="rect">
            <a:avLst/>
          </a:prstGeom>
          <a:solidFill>
            <a:srgbClr val="1C31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7688160" y="1956240"/>
            <a:ext cx="29646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0A93B"/>
                </a:solidFill>
                <a:effectLst/>
                <a:uFillTx/>
                <a:latin typeface="Inter"/>
                <a:ea typeface="Inter"/>
              </a:rPr>
              <a:t>Staging, not OSM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7688160" y="2375280"/>
            <a:ext cx="2964600" cy="82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Edits live in JSON Server. Nothing is 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pushed to the live map.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8"/>
          <p:cNvSpPr/>
          <p:nvPr/>
        </p:nvSpPr>
        <p:spPr>
          <a:xfrm>
            <a:off x="7688160" y="3556440"/>
            <a:ext cx="29646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401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0A93B"/>
                </a:solidFill>
                <a:effectLst/>
                <a:uFillTx/>
                <a:latin typeface="Inter"/>
                <a:ea typeface="Inter"/>
              </a:rPr>
              <a:t>Copies go stale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9"/>
          <p:cNvSpPr/>
          <p:nvPr/>
        </p:nvSpPr>
        <p:spPr>
          <a:xfrm>
            <a:off x="7688160" y="4013640"/>
            <a:ext cx="29646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I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f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 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O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S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M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 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c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h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a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n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g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e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s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,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 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t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h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e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 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s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a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v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e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d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 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c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o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p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y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 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d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o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e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s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 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n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o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t</a:t>
            </a:r>
            <a:r>
              <a:rPr lang="en-US" sz="1500" b="0" u="none" strike="noStrike">
                <a:solidFill>
                  <a:srgbClr val="C9D3D8"/>
                </a:solidFill>
                <a:effectLst/>
                <a:uFillTx/>
                <a:latin typeface="Inter"/>
                <a:ea typeface="Inter"/>
              </a:rPr>
              <a:t>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" name=""/>
          <p:cNvPicPr/>
          <p:nvPr/>
        </p:nvPicPr>
        <p:blipFill>
          <a:blip r:embed="rId1"/>
          <a:stretch/>
        </p:blipFill>
        <p:spPr>
          <a:xfrm>
            <a:off x="1371600" y="1828800"/>
            <a:ext cx="4343400" cy="457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A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12880" y="1948320"/>
            <a:ext cx="10883160" cy="170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 defTabSz="914400">
              <a:lnSpc>
                <a:spcPts val="6599"/>
              </a:lnSpc>
              <a:buNone/>
              <a:tabLst>
                <a:tab pos="0" algn="l"/>
              </a:tabLst>
            </a:pPr>
            <a:r>
              <a:rPr lang="en-US" sz="60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Space Grotesk"/>
              </a:rPr>
              <a:t>Maps are only as true as their last check.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URW Gothic"/>
            </a:endParaRPr>
          </a:p>
        </p:txBody>
      </p:sp>
      <p:sp>
        <p:nvSpPr>
          <p:cNvPr id="61" name="Text 1"/>
          <p:cNvSpPr/>
          <p:nvPr/>
        </p:nvSpPr>
        <p:spPr>
          <a:xfrm>
            <a:off x="812880" y="3929400"/>
            <a:ext cx="1088316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3359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Kwa Ground makes the check easy.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URW Gothic"/>
            </a:endParaRPr>
          </a:p>
        </p:txBody>
      </p:sp>
      <p:sp>
        <p:nvSpPr>
          <p:cNvPr id="62" name="Text 2"/>
          <p:cNvSpPr/>
          <p:nvPr/>
        </p:nvSpPr>
        <p:spPr>
          <a:xfrm>
            <a:off x="812880" y="5486400"/>
            <a:ext cx="3301920" cy="91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ts val="1959"/>
              </a:lnSpc>
              <a:tabLst>
                <a:tab pos="0" algn="l"/>
              </a:tabLst>
            </a:pPr>
            <a:r>
              <a:rPr lang="en-US" sz="2400" b="0" u="none" strike="noStrike">
                <a:solidFill>
                  <a:srgbClr val="12202B"/>
                </a:solidFill>
                <a:effectLst/>
                <a:uFillTx/>
                <a:latin typeface="Inter"/>
                <a:ea typeface="Inter"/>
              </a:rPr>
              <a:t> </a:t>
            </a:r>
            <a:r>
              <a:rPr lang="en-US" sz="2400" b="0" u="none" strike="noStrike">
                <a:solidFill>
                  <a:srgbClr val="12202B"/>
                </a:solidFill>
                <a:effectLst/>
                <a:uFillTx/>
                <a:latin typeface="URW Gothic"/>
                <a:ea typeface="Inter"/>
              </a:rPr>
              <a:t>Questions welcome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GroundTruth Nairobi — Pitch">
  <a:themeElements>
    <a:clrScheme name="GroundTruth Nairobi — Pitch">
      <a:dk1>
        <a:srgbClr val="12202B"/>
      </a:dk1>
      <a:lt1>
        <a:srgbClr val="F3EFE6"/>
      </a:lt1>
      <a:dk2>
        <a:srgbClr val="29353E"/>
      </a:dk2>
      <a:lt2>
        <a:srgbClr val="BBBBB7"/>
      </a:lt2>
      <a:accent1>
        <a:srgbClr val="F0A93B"/>
      </a:accent1>
      <a:accent2>
        <a:srgbClr val="4CC3B0"/>
      </a:accent2>
      <a:accent3>
        <a:srgbClr val="C9D3D8"/>
      </a:accent3>
      <a:accent4>
        <a:srgbClr val="4A5A64"/>
      </a:accent4>
      <a:accent5>
        <a:srgbClr val="8FA3AD"/>
      </a:accent5>
      <a:accent6>
        <a:srgbClr val="9AA0A6"/>
      </a:accent6>
      <a:hlink>
        <a:srgbClr val="0563C1"/>
      </a:hlink>
      <a:folHlink>
        <a:srgbClr val="954F72"/>
      </a:folHlink>
    </a:clrScheme>
    <a:fontScheme name="GroundTruth Nairobi — Pitch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LibreOffice/26.2.5.2$Linux_X86_64 LibreOffice_project/6d2b0d33fb0f5da53a12f98bed3e9973e56ff1f0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2026-10-18T18:36:15Z</dcterms:created>
  <dc:creator/>
  <dc:description/>
  <dc:language>en-US</dc:language>
  <cp:lastModifiedBy/>
  <dcterms:modified xsi:type="dcterms:W3CDTF">2026-10-18T23:26:33Z</dcterms:modified>
  <cp:revision>2</cp:revision>
  <dc:subject/>
  <dc:title>GroundTruth Nairobi — Pitch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