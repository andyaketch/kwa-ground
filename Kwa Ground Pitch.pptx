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Inter"/>
              </a:rPr>
              <a:t>Click to move the slide</a:t>
            </a:r>
            <a:endParaRPr lang="en-US" sz="4400" b="0" u="none" strike="noStrike">
              <a:solidFill>
                <a:schemeClr val="lt1"/>
              </a:solidFill>
              <a:effectLst/>
              <a:uFillTx/>
              <a:latin typeface="Inter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7CBC5A8-46B0-4E2C-8959-FF2AA867FB5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7308E8F-3CC5-48F9-BC42-F7E1CD5AD9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8436709-9130-42A2-99FF-5EB93A72DF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86AC8D2-821E-4E7D-AA57-E927C7AB139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3A2389F-C9AD-4121-84FA-FFFF8F1707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B61ECA-DC3B-471C-86D3-8061796F4B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3394719-70D9-4A64-9D4F-71B09A10FC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A0701D-82B1-486C-BA56-B3D3F75304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body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565640" cy="6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lt1"/>
                </a:solidFill>
                <a:effectLst/>
                <a:uFillTx/>
                <a:latin typeface="Inter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Inter"/>
              </a:rPr>
              <a:t>Click to edit the </a:t>
            </a: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Inter"/>
              </a:rPr>
              <a:t>title text format</a:t>
            </a:r>
            <a:endParaRPr lang="en-US" sz="4400" b="0" u="none" strike="noStrike">
              <a:solidFill>
                <a:schemeClr val="lt1"/>
              </a:solidFill>
              <a:effectLst/>
              <a:uFillTx/>
              <a:latin typeface="Inte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12880" y="1732320"/>
            <a:ext cx="10565640" cy="431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Inter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Inter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Inter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Inter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Inter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Inter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Inter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Inter"/>
              </a:rPr>
              <a:t>Click to edit the outline text format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Inter"/>
            </a:endParaRPr>
          </a:p>
          <a:p>
            <a:pPr marL="743040" lvl="1" indent="-28584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Inter"/>
              </a:rPr>
              <a:t>Second Outline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Inter"/>
            </a:endParaRPr>
          </a:p>
          <a:p>
            <a:pPr marL="1143000" lvl="2" indent="-2286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Inter"/>
              </a:rPr>
              <a:t>Third Outline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Inter"/>
            </a:endParaRPr>
          </a:p>
          <a:p>
            <a:pPr marL="1600200" lvl="3" indent="-2286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Inter"/>
              </a:rPr>
              <a:t>Fourth Outline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Inter"/>
            </a:endParaRPr>
          </a:p>
          <a:p>
            <a:pPr marL="2057400" lvl="4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Inter"/>
              </a:rPr>
              <a:t>Fifth Outline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Inter"/>
            </a:endParaRPr>
          </a:p>
          <a:p>
            <a:pPr marL="2514600" lvl="5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Inter"/>
              </a:rPr>
              <a:t>Sixth Outline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Inter"/>
            </a:endParaRPr>
          </a:p>
          <a:p>
            <a:pPr marL="2971800" lvl="6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Inter"/>
              </a:rPr>
              <a:t>Seventh Outline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Inter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85800" y="1371600"/>
            <a:ext cx="10882800" cy="109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8399"/>
              </a:lnSpc>
              <a:buNone/>
              <a:tabLst>
                <a:tab pos="0" algn="l"/>
              </a:tabLst>
            </a:pPr>
            <a:r>
              <a:rPr lang="en-US" sz="8000" b="1" u="none" strike="noStrike">
                <a:solidFill>
                  <a:srgbClr val="F3EFE6"/>
                </a:solidFill>
                <a:effectLst/>
                <a:uFillTx/>
                <a:latin typeface="URW Gothic"/>
                <a:ea typeface="Space Grotesk"/>
              </a:rPr>
              <a:t>Kwa Ground</a:t>
            </a:r>
            <a:endParaRPr lang="en-US" sz="8000" b="0" u="none" strike="noStrike">
              <a:solidFill>
                <a:schemeClr val="lt1"/>
              </a:solidFill>
              <a:effectLst/>
              <a:uFillTx/>
              <a:latin typeface="Inter"/>
            </a:endParaRPr>
          </a:p>
        </p:txBody>
      </p:sp>
      <p:sp>
        <p:nvSpPr>
          <p:cNvPr id="11" name="Text 2"/>
          <p:cNvSpPr/>
          <p:nvPr/>
        </p:nvSpPr>
        <p:spPr>
          <a:xfrm>
            <a:off x="812880" y="2743200"/>
            <a:ext cx="6273360" cy="42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121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C9D3D8"/>
                </a:solidFill>
                <a:effectLst/>
                <a:uFillTx/>
                <a:latin typeface="URW Gothic"/>
                <a:ea typeface="Inter"/>
              </a:rPr>
              <a:t>A spatial audit for facilities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8"/>
          <p:cNvSpPr/>
          <p:nvPr/>
        </p:nvSpPr>
        <p:spPr>
          <a:xfrm>
            <a:off x="876600" y="5702760"/>
            <a:ext cx="1409040" cy="92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8FA3AD"/>
                </a:solidFill>
                <a:effectLst/>
                <a:uFillTx/>
                <a:latin typeface="Inter"/>
                <a:ea typeface="Inter"/>
              </a:rPr>
              <a:t>Presented by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8FA3AD"/>
                </a:solidFill>
                <a:effectLst/>
                <a:uFillTx/>
                <a:latin typeface="Inter"/>
                <a:ea typeface="Inter"/>
              </a:rPr>
              <a:t>Andy  Aketch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"/>
          <p:cNvPicPr/>
          <p:nvPr/>
        </p:nvPicPr>
        <p:blipFill>
          <a:blip r:embed="rId1"/>
          <a:stretch/>
        </p:blipFill>
        <p:spPr>
          <a:xfrm>
            <a:off x="7086600" y="1371600"/>
            <a:ext cx="4800240" cy="4547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2800" cy="63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4839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12202B"/>
                </a:solidFill>
                <a:effectLst/>
                <a:uFillTx/>
                <a:latin typeface="URW Gothic"/>
                <a:ea typeface="Space Grotesk"/>
              </a:rPr>
              <a:t>A map is only as true as its last check</a:t>
            </a:r>
            <a:endParaRPr lang="en-US" sz="4400" b="0" u="none" strike="noStrike">
              <a:solidFill>
                <a:schemeClr val="lt1"/>
              </a:solidFill>
              <a:effectLst/>
              <a:uFillTx/>
              <a:latin typeface="Inter"/>
            </a:endParaRPr>
          </a:p>
        </p:txBody>
      </p:sp>
      <p:sp>
        <p:nvSpPr>
          <p:cNvPr id="15" name="Text 3"/>
          <p:cNvSpPr/>
          <p:nvPr/>
        </p:nvSpPr>
        <p:spPr>
          <a:xfrm>
            <a:off x="1066680" y="2968200"/>
            <a:ext cx="29642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639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2202B"/>
                </a:solidFill>
                <a:effectLst/>
                <a:uFillTx/>
                <a:latin typeface="Inter"/>
                <a:ea typeface="Inter"/>
              </a:rPr>
              <a:t>Moved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1066680" y="3379320"/>
            <a:ext cx="29642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A5A64"/>
                </a:solidFill>
                <a:effectLst/>
                <a:uFillTx/>
                <a:latin typeface="URW Gothic"/>
                <a:ea typeface="Inter"/>
              </a:rPr>
              <a:t>The clinic relocated. The </a:t>
            </a:r>
            <a:r>
              <a:rPr lang="en-US" sz="1600" b="0" u="none" strike="noStrike">
                <a:solidFill>
                  <a:srgbClr val="4A5A64"/>
                </a:solidFill>
                <a:effectLst/>
                <a:uFillTx/>
                <a:latin typeface="URW Gothic"/>
                <a:ea typeface="Inter"/>
              </a:rPr>
              <a:t>pin did not.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4579200" y="2840040"/>
            <a:ext cx="29642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639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2202B"/>
                </a:solidFill>
                <a:effectLst/>
                <a:uFillTx/>
                <a:latin typeface="Inter"/>
                <a:ea typeface="Inter"/>
              </a:rPr>
              <a:t>Closed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4656600" y="3379320"/>
            <a:ext cx="29642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A5A64"/>
                </a:solidFill>
                <a:effectLst/>
                <a:uFillTx/>
                <a:latin typeface="URW Gothic"/>
                <a:ea typeface="Inter"/>
              </a:rPr>
              <a:t>The map says open. The shutters say otherwise.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8246520" y="2968200"/>
            <a:ext cx="29642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639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2202B"/>
                </a:solidFill>
                <a:effectLst/>
                <a:uFillTx/>
                <a:latin typeface="Inter"/>
                <a:ea typeface="Inter"/>
              </a:rPr>
              <a:t>Renamed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8246520" y="3379320"/>
            <a:ext cx="29642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A5A64"/>
                </a:solidFill>
                <a:effectLst/>
                <a:uFillTx/>
                <a:latin typeface="URW Gothic"/>
                <a:ea typeface="Inter"/>
              </a:rPr>
              <a:t>New owner, new sign, old name online.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812880" y="5450760"/>
            <a:ext cx="1088280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ts val="2341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2202B"/>
                </a:solidFill>
                <a:effectLst/>
                <a:uFillTx/>
                <a:latin typeface="URW Gothic"/>
                <a:ea typeface="Inter"/>
              </a:rPr>
              <a:t>Mappers verify features all the time, but usually in their heads or in offices without real ground proofing.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41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2202B"/>
                </a:solidFill>
                <a:effectLst/>
                <a:uFillTx/>
                <a:latin typeface="URW Gothic"/>
                <a:ea typeface="Inter"/>
              </a:rPr>
              <a:t>Kwa Ground gives that check a proper tool.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2800" cy="63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4839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F3EFE6"/>
                </a:solidFill>
                <a:effectLst/>
                <a:uFillTx/>
                <a:latin typeface="Space Grotesk"/>
                <a:ea typeface="Space Grotesk"/>
              </a:rPr>
              <a:t>How it works</a:t>
            </a:r>
            <a:endParaRPr lang="en-US" sz="4400" b="0" u="none" strike="noStrike">
              <a:solidFill>
                <a:schemeClr val="lt1"/>
              </a:solidFill>
              <a:effectLst/>
              <a:uFillTx/>
              <a:latin typeface="Inter"/>
            </a:endParaRPr>
          </a:p>
        </p:txBody>
      </p:sp>
      <p:sp>
        <p:nvSpPr>
          <p:cNvPr id="23" name="Text 2"/>
          <p:cNvSpPr/>
          <p:nvPr/>
        </p:nvSpPr>
        <p:spPr>
          <a:xfrm>
            <a:off x="914400" y="1600200"/>
            <a:ext cx="214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19999"/>
          </a:bodyPr>
          <a:p>
            <a:pPr defTabSz="914400">
              <a:lnSpc>
                <a:spcPts val="4479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4CC3B0"/>
                </a:solidFill>
                <a:effectLst/>
                <a:uFillTx/>
                <a:latin typeface="Inter"/>
                <a:ea typeface="Inter"/>
              </a:rPr>
              <a:t>1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914400" y="2286000"/>
            <a:ext cx="214452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3EFE6"/>
                </a:solidFill>
                <a:effectLst/>
                <a:uFillTx/>
                <a:latin typeface="URW Gothic"/>
                <a:ea typeface="Inter"/>
              </a:rPr>
              <a:t>Pick</a:t>
            </a:r>
            <a:r>
              <a:rPr lang="en-US" sz="1800" b="1" u="none" strike="noStrike">
                <a:solidFill>
                  <a:srgbClr val="F3EFE6"/>
                </a:solidFill>
                <a:effectLst/>
                <a:uFillTx/>
                <a:latin typeface="Inter"/>
                <a:ea typeface="Inter"/>
              </a:rPr>
              <a:t> an area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4"/>
          <p:cNvSpPr/>
          <p:nvPr/>
        </p:nvSpPr>
        <p:spPr>
          <a:xfrm>
            <a:off x="914400" y="2743200"/>
            <a:ext cx="205704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3D8"/>
                </a:solidFill>
                <a:effectLst/>
                <a:uFillTx/>
                <a:latin typeface="Inter"/>
                <a:ea typeface="Inter"/>
              </a:rPr>
              <a:t>Click the </a:t>
            </a:r>
            <a:r>
              <a:rPr lang="en-US" sz="1400" b="0" u="none" strike="noStrike">
                <a:solidFill>
                  <a:srgbClr val="C9D3D8"/>
                </a:solidFill>
                <a:effectLst/>
                <a:uFillTx/>
                <a:latin typeface="URW Gothic"/>
                <a:ea typeface="Inter"/>
              </a:rPr>
              <a:t>map</a:t>
            </a:r>
            <a:r>
              <a:rPr lang="en-US" sz="1400" b="0" u="none" strike="noStrike">
                <a:solidFill>
                  <a:srgbClr val="C9D3D8"/>
                </a:solidFill>
                <a:effectLst/>
                <a:uFillTx/>
                <a:latin typeface="Inter"/>
                <a:ea typeface="Inter"/>
              </a:rPr>
              <a:t>. The view becomes a bounding box.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3708360" y="4049280"/>
            <a:ext cx="21445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4479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4CC3B0"/>
                </a:solidFill>
                <a:effectLst/>
                <a:uFillTx/>
                <a:latin typeface="Inter"/>
                <a:ea typeface="Inter"/>
              </a:rPr>
              <a:t>2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3708360" y="4719600"/>
            <a:ext cx="214452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3EFE6"/>
                </a:solidFill>
                <a:effectLst/>
                <a:uFillTx/>
                <a:latin typeface="Inter"/>
                <a:ea typeface="Inter"/>
              </a:rPr>
              <a:t>Load facilities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8"/>
          <p:cNvSpPr/>
          <p:nvPr/>
        </p:nvSpPr>
        <p:spPr>
          <a:xfrm>
            <a:off x="3708360" y="5095440"/>
            <a:ext cx="214452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3D8"/>
                </a:solidFill>
                <a:effectLst/>
                <a:uFillTx/>
                <a:latin typeface="URW Gothic"/>
                <a:ea typeface="Inter"/>
              </a:rPr>
              <a:t>The Geoapify API returns every registered facility.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6629400" y="1692000"/>
            <a:ext cx="21445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4479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4CC3B0"/>
                </a:solidFill>
                <a:effectLst/>
                <a:uFillTx/>
                <a:latin typeface="Inter"/>
                <a:ea typeface="Inter"/>
              </a:rPr>
              <a:t>3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6629400" y="2444040"/>
            <a:ext cx="214452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3EFE6"/>
                </a:solidFill>
                <a:effectLst/>
                <a:uFillTx/>
                <a:latin typeface="Inter"/>
                <a:ea typeface="Inter"/>
              </a:rPr>
              <a:t>Audit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6629400" y="2906280"/>
            <a:ext cx="214452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3D8"/>
                </a:solidFill>
                <a:effectLst/>
                <a:uFillTx/>
                <a:latin typeface="URW Gothic"/>
                <a:ea typeface="Inter"/>
              </a:rPr>
              <a:t>Validate</a:t>
            </a:r>
            <a:r>
              <a:rPr lang="en-US" sz="1400" b="0" u="none" strike="noStrike">
                <a:solidFill>
                  <a:srgbClr val="C9D3D8"/>
                </a:solidFill>
                <a:effectLst/>
                <a:uFillTx/>
                <a:latin typeface="Inter"/>
                <a:ea typeface="Inter"/>
              </a:rPr>
              <a:t> the loaded data.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4"/>
          <p:cNvSpPr/>
          <p:nvPr/>
        </p:nvSpPr>
        <p:spPr>
          <a:xfrm>
            <a:off x="9093240" y="4049280"/>
            <a:ext cx="21445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4479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4CC3B0"/>
                </a:solidFill>
                <a:effectLst/>
                <a:uFillTx/>
                <a:latin typeface="Inter"/>
                <a:ea typeface="Inter"/>
              </a:rPr>
              <a:t>4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5"/>
          <p:cNvSpPr/>
          <p:nvPr/>
        </p:nvSpPr>
        <p:spPr>
          <a:xfrm>
            <a:off x="9093240" y="4719600"/>
            <a:ext cx="2144520" cy="2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3EFE6"/>
                </a:solidFill>
                <a:effectLst/>
                <a:uFillTx/>
                <a:latin typeface="Inter"/>
                <a:ea typeface="Inter"/>
              </a:rPr>
              <a:t>Save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6"/>
          <p:cNvSpPr/>
          <p:nvPr/>
        </p:nvSpPr>
        <p:spPr>
          <a:xfrm>
            <a:off x="9093240" y="5095440"/>
            <a:ext cx="214452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3D8"/>
                </a:solidFill>
                <a:effectLst/>
                <a:uFillTx/>
                <a:latin typeface="URW Gothic"/>
                <a:ea typeface="Inter"/>
              </a:rPr>
              <a:t>Changes persist in JSON Server and survive a reload.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A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2800" cy="69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5281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rgbClr val="12202B"/>
                </a:solidFill>
                <a:effectLst/>
                <a:uFillTx/>
                <a:latin typeface="URW Gothic"/>
                <a:ea typeface="Space Grotesk"/>
              </a:rPr>
              <a:t>The demo</a:t>
            </a:r>
            <a:endParaRPr lang="en-US" sz="4800" b="0" u="none" strike="noStrike">
              <a:solidFill>
                <a:schemeClr val="lt1"/>
              </a:solidFill>
              <a:effectLst/>
              <a:uFillTx/>
              <a:latin typeface="Inter"/>
            </a:endParaRPr>
          </a:p>
        </p:txBody>
      </p:sp>
      <p:sp>
        <p:nvSpPr>
          <p:cNvPr id="36" name=""/>
          <p:cNvSpPr/>
          <p:nvPr/>
        </p:nvSpPr>
        <p:spPr>
          <a:xfrm>
            <a:off x="895320" y="1828800"/>
            <a:ext cx="8019720" cy="30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</a:pPr>
            <a:r>
              <a:rPr lang="en-US" sz="2800" b="1" u="none" strike="noStrike">
                <a:solidFill>
                  <a:srgbClr val="12202B"/>
                </a:solidFill>
                <a:effectLst/>
                <a:uFillTx/>
                <a:latin typeface="URW Gothic"/>
                <a:ea typeface="Inter"/>
              </a:rPr>
              <a:t>Open an Area of Interest on the map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</a:pPr>
            <a:r>
              <a:rPr lang="en-US" sz="2800" b="1" u="none" strike="noStrike">
                <a:solidFill>
                  <a:srgbClr val="12202B"/>
                </a:solidFill>
                <a:effectLst/>
                <a:uFillTx/>
                <a:latin typeface="URW Gothic"/>
                <a:ea typeface="Inter"/>
              </a:rPr>
              <a:t>Select an area and watch facilities (eg. clinics) load as pins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</a:pPr>
            <a:r>
              <a:rPr lang="en-US" sz="2800" b="1" u="none" strike="noStrike">
                <a:solidFill>
                  <a:srgbClr val="12202B"/>
                </a:solidFill>
                <a:effectLst/>
                <a:uFillTx/>
                <a:latin typeface="URW Gothic"/>
                <a:ea typeface="Inter"/>
              </a:rPr>
              <a:t>Click one, mark it “needs updating”, add a note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</a:pPr>
            <a:r>
              <a:rPr lang="en-US" sz="2800" b="1" u="none" strike="noStrike">
                <a:solidFill>
                  <a:srgbClr val="12202B"/>
                </a:solidFill>
                <a:effectLst/>
                <a:uFillTx/>
                <a:latin typeface="URW Gothic"/>
                <a:ea typeface="Inter"/>
              </a:rPr>
              <a:t>The pin changes colour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</a:pPr>
            <a:r>
              <a:rPr lang="en-US" sz="2800" b="1" u="none" strike="noStrike">
                <a:solidFill>
                  <a:srgbClr val="12202B"/>
                </a:solidFill>
                <a:effectLst/>
                <a:uFillTx/>
                <a:latin typeface="URW Gothic"/>
                <a:ea typeface="Inter"/>
              </a:rPr>
              <a:t>Reload. The changes have been updated there.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2800" cy="63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4839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12202B"/>
                </a:solidFill>
                <a:effectLst/>
                <a:uFillTx/>
                <a:latin typeface="URW Gothic"/>
                <a:ea typeface="Space Grotesk"/>
              </a:rPr>
              <a:t>In a nutshell...</a:t>
            </a:r>
            <a:endParaRPr lang="en-US" sz="4400" b="0" u="none" strike="noStrike">
              <a:solidFill>
                <a:schemeClr val="lt1"/>
              </a:solidFill>
              <a:effectLst/>
              <a:uFillTx/>
              <a:latin typeface="Inter"/>
            </a:endParaRPr>
          </a:p>
        </p:txBody>
      </p:sp>
      <p:sp>
        <p:nvSpPr>
          <p:cNvPr id="38" name="Shape 1"/>
          <p:cNvSpPr/>
          <p:nvPr/>
        </p:nvSpPr>
        <p:spPr>
          <a:xfrm>
            <a:off x="685800" y="1371600"/>
            <a:ext cx="5257800" cy="457200"/>
          </a:xfrm>
          <a:prstGeom prst="line">
            <a:avLst/>
          </a:prstGeom>
          <a:ln w="12700">
            <a:solidFill>
              <a:srgbClr val="1220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"/>
          <p:cNvSpPr/>
          <p:nvPr/>
        </p:nvSpPr>
        <p:spPr>
          <a:xfrm>
            <a:off x="812880" y="3517920"/>
            <a:ext cx="2354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2202B"/>
                </a:solidFill>
                <a:effectLst/>
                <a:uFillTx/>
                <a:latin typeface="Inter"/>
                <a:ea typeface="Inter"/>
              </a:rPr>
              <a:t>API integration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3403440" y="3517920"/>
            <a:ext cx="821412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2202B"/>
                </a:solidFill>
                <a:effectLst/>
                <a:uFillTx/>
                <a:latin typeface="Inter"/>
                <a:ea typeface="Inter"/>
              </a:rPr>
              <a:t>Geoapify for facilities,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4"/>
          <p:cNvSpPr/>
          <p:nvPr/>
        </p:nvSpPr>
        <p:spPr>
          <a:xfrm>
            <a:off x="812520" y="3917880"/>
            <a:ext cx="10566360" cy="360"/>
          </a:xfrm>
          <a:prstGeom prst="line">
            <a:avLst/>
          </a:prstGeom>
          <a:ln w="12700">
            <a:solidFill>
              <a:srgbClr val="D9D3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812880" y="4051440"/>
            <a:ext cx="2354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2202B"/>
                </a:solidFill>
                <a:effectLst/>
                <a:uFillTx/>
                <a:latin typeface="Inter"/>
                <a:ea typeface="Inter"/>
              </a:rPr>
              <a:t>CRUD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3403440" y="4051440"/>
            <a:ext cx="821412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2202B"/>
                </a:solidFill>
                <a:effectLst/>
                <a:uFillTx/>
                <a:latin typeface="Inter"/>
                <a:ea typeface="Inter"/>
              </a:rPr>
              <a:t>GET, POST, PUT, PATCH and DELETE against JSON Server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7"/>
          <p:cNvSpPr/>
          <p:nvPr/>
        </p:nvSpPr>
        <p:spPr>
          <a:xfrm>
            <a:off x="812520" y="4451040"/>
            <a:ext cx="10566360" cy="360"/>
          </a:xfrm>
          <a:prstGeom prst="line">
            <a:avLst/>
          </a:prstGeom>
          <a:ln w="12700">
            <a:solidFill>
              <a:srgbClr val="D9D3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8"/>
          <p:cNvSpPr/>
          <p:nvPr/>
        </p:nvSpPr>
        <p:spPr>
          <a:xfrm>
            <a:off x="812880" y="4584600"/>
            <a:ext cx="2354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2202B"/>
                </a:solidFill>
                <a:effectLst/>
                <a:uFillTx/>
                <a:latin typeface="Inter"/>
                <a:ea typeface="Inter"/>
              </a:rPr>
              <a:t>Modules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9"/>
          <p:cNvSpPr/>
          <p:nvPr/>
        </p:nvSpPr>
        <p:spPr>
          <a:xfrm>
            <a:off x="3403440" y="4584600"/>
            <a:ext cx="821412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2202B"/>
                </a:solidFill>
                <a:effectLst/>
                <a:uFillTx/>
                <a:latin typeface="Inter"/>
                <a:ea typeface="Inter"/>
              </a:rPr>
              <a:t>api, geo, basemap , validation ,separate from the HTML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0"/>
          <p:cNvSpPr/>
          <p:nvPr/>
        </p:nvSpPr>
        <p:spPr>
          <a:xfrm>
            <a:off x="812520" y="4984560"/>
            <a:ext cx="10566360" cy="360"/>
          </a:xfrm>
          <a:prstGeom prst="line">
            <a:avLst/>
          </a:prstGeom>
          <a:ln w="12700">
            <a:solidFill>
              <a:srgbClr val="D9D3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812880" y="5118120"/>
            <a:ext cx="2354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2202B"/>
                </a:solidFill>
                <a:effectLst/>
                <a:uFillTx/>
                <a:latin typeface="Inter"/>
                <a:ea typeface="Inter"/>
              </a:rPr>
              <a:t>Testing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3403440" y="5118120"/>
            <a:ext cx="821412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2202B"/>
                </a:solidFill>
                <a:effectLst/>
                <a:uFillTx/>
                <a:latin typeface="Inter"/>
                <a:ea typeface="Inter"/>
              </a:rPr>
              <a:t>at least 50% coverage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3"/>
          <p:cNvSpPr/>
          <p:nvPr/>
        </p:nvSpPr>
        <p:spPr>
          <a:xfrm>
            <a:off x="812520" y="5518080"/>
            <a:ext cx="10566360" cy="360"/>
          </a:xfrm>
          <a:prstGeom prst="line">
            <a:avLst/>
          </a:prstGeom>
          <a:ln w="12700">
            <a:solidFill>
              <a:srgbClr val="D9D3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4"/>
          <p:cNvSpPr/>
          <p:nvPr/>
        </p:nvSpPr>
        <p:spPr>
          <a:xfrm>
            <a:off x="812880" y="5651640"/>
            <a:ext cx="2354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2202B"/>
                </a:solidFill>
                <a:effectLst/>
                <a:uFillTx/>
                <a:latin typeface="Inter"/>
                <a:ea typeface="Inter"/>
              </a:rPr>
              <a:t>Design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5"/>
          <p:cNvSpPr/>
          <p:nvPr/>
        </p:nvSpPr>
        <p:spPr>
          <a:xfrm>
            <a:off x="3403440" y="5651640"/>
            <a:ext cx="821412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2202B"/>
                </a:solidFill>
                <a:effectLst/>
                <a:uFillTx/>
                <a:latin typeface="Inter"/>
                <a:ea typeface="Inter"/>
              </a:rPr>
              <a:t>Figma wireframe, three-colour palette, responsive layout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2800" cy="63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4839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F3EFE6"/>
                </a:solidFill>
                <a:effectLst/>
                <a:uFillTx/>
                <a:latin typeface="Space Grotesk"/>
                <a:ea typeface="Space Grotesk"/>
              </a:rPr>
              <a:t>What it is not... yet</a:t>
            </a:r>
            <a:endParaRPr lang="en-US" sz="4400" b="0" u="none" strike="noStrike">
              <a:solidFill>
                <a:schemeClr val="lt1"/>
              </a:solidFill>
              <a:effectLst/>
              <a:uFillTx/>
              <a:latin typeface="Inter"/>
            </a:endParaRPr>
          </a:p>
        </p:txBody>
      </p:sp>
      <p:sp>
        <p:nvSpPr>
          <p:cNvPr id="54" name="Shape 1"/>
          <p:cNvSpPr/>
          <p:nvPr/>
        </p:nvSpPr>
        <p:spPr>
          <a:xfrm>
            <a:off x="7459560" y="1828800"/>
            <a:ext cx="3284280" cy="3429000"/>
          </a:xfrm>
          <a:prstGeom prst="rect">
            <a:avLst/>
          </a:prstGeom>
          <a:solidFill>
            <a:srgbClr val="1C31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"/>
          <p:cNvSpPr/>
          <p:nvPr/>
        </p:nvSpPr>
        <p:spPr>
          <a:xfrm>
            <a:off x="7688160" y="1956240"/>
            <a:ext cx="296424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0A93B"/>
                </a:solidFill>
                <a:effectLst/>
                <a:uFillTx/>
                <a:latin typeface="Inter"/>
                <a:ea typeface="Inter"/>
              </a:rPr>
              <a:t>Staging, not OSM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7688160" y="2375280"/>
            <a:ext cx="2964240" cy="82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D8"/>
                </a:solidFill>
                <a:effectLst/>
                <a:uFillTx/>
                <a:latin typeface="Inter"/>
                <a:ea typeface="Inter"/>
              </a:rPr>
              <a:t>Edits live in JSON Server. Nothing is pushed to the live map.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8"/>
          <p:cNvSpPr/>
          <p:nvPr/>
        </p:nvSpPr>
        <p:spPr>
          <a:xfrm>
            <a:off x="7688160" y="3556440"/>
            <a:ext cx="296424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0A93B"/>
                </a:solidFill>
                <a:effectLst/>
                <a:uFillTx/>
                <a:latin typeface="Inter"/>
                <a:ea typeface="Inter"/>
              </a:rPr>
              <a:t>Who can edit?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9"/>
          <p:cNvSpPr/>
          <p:nvPr/>
        </p:nvSpPr>
        <p:spPr>
          <a:xfrm>
            <a:off x="7688160" y="4013640"/>
            <a:ext cx="2964240" cy="55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D8"/>
                </a:solidFill>
                <a:effectLst/>
                <a:uFillTx/>
                <a:latin typeface="Inter"/>
                <a:ea typeface="Inter"/>
              </a:rPr>
              <a:t>Need for verified editors by use of login pages.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" name=""/>
          <p:cNvPicPr/>
          <p:nvPr/>
        </p:nvPicPr>
        <p:blipFill>
          <a:blip r:embed="rId1"/>
          <a:stretch/>
        </p:blipFill>
        <p:spPr>
          <a:xfrm>
            <a:off x="1371600" y="1828800"/>
            <a:ext cx="4343040" cy="457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A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12880" y="1948320"/>
            <a:ext cx="10882800" cy="170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6599"/>
              </a:lnSpc>
              <a:buNone/>
              <a:tabLst>
                <a:tab pos="0" algn="l"/>
              </a:tabLst>
            </a:pPr>
            <a:r>
              <a:rPr lang="en-US" sz="6000" b="1" u="none" strike="noStrike">
                <a:solidFill>
                  <a:srgbClr val="12202B"/>
                </a:solidFill>
                <a:effectLst/>
                <a:uFillTx/>
                <a:latin typeface="URW Gothic"/>
                <a:ea typeface="Space Grotesk"/>
              </a:rPr>
              <a:t>Maps are only as true as their last check.</a:t>
            </a:r>
            <a:endParaRPr lang="en-US" sz="6000" b="0" u="none" strike="noStrike">
              <a:solidFill>
                <a:schemeClr val="lt1"/>
              </a:solidFill>
              <a:effectLst/>
              <a:uFillTx/>
              <a:latin typeface="Inter"/>
            </a:endParaRPr>
          </a:p>
        </p:txBody>
      </p:sp>
      <p:sp>
        <p:nvSpPr>
          <p:cNvPr id="61" name="Text 1"/>
          <p:cNvSpPr/>
          <p:nvPr/>
        </p:nvSpPr>
        <p:spPr>
          <a:xfrm>
            <a:off x="812880" y="3929400"/>
            <a:ext cx="1088280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359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202B"/>
                </a:solidFill>
                <a:effectLst/>
                <a:uFillTx/>
                <a:latin typeface="URW Gothic"/>
                <a:ea typeface="Inter"/>
              </a:rPr>
              <a:t>Kwa Ground makes the check easy.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"/>
          <p:cNvSpPr/>
          <p:nvPr/>
        </p:nvSpPr>
        <p:spPr>
          <a:xfrm>
            <a:off x="812880" y="5486400"/>
            <a:ext cx="3301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12202B"/>
                </a:solidFill>
                <a:effectLst/>
                <a:uFillTx/>
                <a:latin typeface="Inter"/>
                <a:ea typeface="Inter"/>
              </a:rPr>
              <a:t> </a:t>
            </a:r>
            <a:r>
              <a:rPr lang="en-US" sz="2400" b="0" u="none" strike="noStrike">
                <a:solidFill>
                  <a:srgbClr val="12202B"/>
                </a:solidFill>
                <a:effectLst/>
                <a:uFillTx/>
                <a:latin typeface="URW Gothic"/>
                <a:ea typeface="Inter"/>
              </a:rPr>
              <a:t>Questions welcome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GroundTruth Nairobi — Pitch">
  <a:themeElements>
    <a:clrScheme name="GroundTruth Nairobi — Pitch">
      <a:dk1>
        <a:srgbClr val="12202B"/>
      </a:dk1>
      <a:lt1>
        <a:srgbClr val="F3EFE6"/>
      </a:lt1>
      <a:dk2>
        <a:srgbClr val="29353E"/>
      </a:dk2>
      <a:lt2>
        <a:srgbClr val="BBBBB7"/>
      </a:lt2>
      <a:accent1>
        <a:srgbClr val="F0A93B"/>
      </a:accent1>
      <a:accent2>
        <a:srgbClr val="4CC3B0"/>
      </a:accent2>
      <a:accent3>
        <a:srgbClr val="C9D3D8"/>
      </a:accent3>
      <a:accent4>
        <a:srgbClr val="4A5A64"/>
      </a:accent4>
      <a:accent5>
        <a:srgbClr val="8FA3AD"/>
      </a:accent5>
      <a:accent6>
        <a:srgbClr val="9AA0A6"/>
      </a:accent6>
      <a:hlink>
        <a:srgbClr val="0563C1"/>
      </a:hlink>
      <a:folHlink>
        <a:srgbClr val="954F72"/>
      </a:folHlink>
    </a:clrScheme>
    <a:fontScheme name="GroundTruth Nairobi — Pitch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2026-10-18T18:36:15Z</dcterms:created>
  <dc:creator/>
  <dc:description/>
  <dc:language>en-US</dc:language>
  <cp:lastModifiedBy/>
  <dcterms:modified xsi:type="dcterms:W3CDTF">2026-10-27T13:13:14Z</dcterms:modified>
  <cp:revision>3</cp:revision>
  <dc:subject/>
  <dc:title>GroundTruth Nairobi — Pitch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